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Poppins" charset="1" panose="00000500000000000000"/>
      <p:regular r:id="rId7"/>
    </p:embeddedFont>
    <p:embeddedFont>
      <p:font typeface="Times New Roman" charset="1" panose="020206030504050203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logos-world.net/wp-content/uploads/2021/10/Python-Emblem.png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6" r="0" b="-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2938" y="465953"/>
            <a:ext cx="3034806" cy="1020253"/>
            <a:chOff x="0" y="0"/>
            <a:chExt cx="2301291" cy="773657"/>
          </a:xfrm>
        </p:grpSpPr>
        <p:sp>
          <p:nvSpPr>
            <p:cNvPr name="Freeform 4" id="4">
              <a:hlinkClick r:id="rId3" tooltip="https://logos-world.net/wp-content/uploads/2021/10/Python-Emblem.png"/>
            </p:cNvPr>
            <p:cNvSpPr/>
            <p:nvPr/>
          </p:nvSpPr>
          <p:spPr>
            <a:xfrm flipH="false" flipV="false" rot="0">
              <a:off x="0" y="0"/>
              <a:ext cx="2301291" cy="773657"/>
            </a:xfrm>
            <a:custGeom>
              <a:avLst/>
              <a:gdLst/>
              <a:ahLst/>
              <a:cxnLst/>
              <a:rect r="r" b="b" t="t" l="l"/>
              <a:pathLst>
                <a:path h="773657" w="2301291">
                  <a:moveTo>
                    <a:pt x="2176831" y="773657"/>
                  </a:moveTo>
                  <a:lnTo>
                    <a:pt x="124460" y="773657"/>
                  </a:lnTo>
                  <a:cubicBezTo>
                    <a:pt x="55880" y="773657"/>
                    <a:pt x="0" y="717777"/>
                    <a:pt x="0" y="6491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176831" y="0"/>
                  </a:lnTo>
                  <a:cubicBezTo>
                    <a:pt x="2245411" y="0"/>
                    <a:pt x="2301291" y="55880"/>
                    <a:pt x="2301291" y="124460"/>
                  </a:cubicBezTo>
                  <a:lnTo>
                    <a:pt x="2301291" y="649197"/>
                  </a:lnTo>
                  <a:cubicBezTo>
                    <a:pt x="2301291" y="717777"/>
                    <a:pt x="2245411" y="773657"/>
                    <a:pt x="2176831" y="773657"/>
                  </a:cubicBezTo>
                  <a:close/>
                </a:path>
              </a:pathLst>
            </a:custGeom>
            <a:solidFill>
              <a:srgbClr val="191B1A">
                <a:alpha val="8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555522" y="7987140"/>
            <a:ext cx="1655707" cy="1655707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E14761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440294" y="373473"/>
            <a:ext cx="3627397" cy="3471882"/>
          </a:xfrm>
          <a:custGeom>
            <a:avLst/>
            <a:gdLst/>
            <a:ahLst/>
            <a:cxnLst/>
            <a:rect r="r" b="b" t="t" l="l"/>
            <a:pathLst>
              <a:path h="3471882" w="3627397">
                <a:moveTo>
                  <a:pt x="0" y="0"/>
                </a:moveTo>
                <a:lnTo>
                  <a:pt x="3627397" y="0"/>
                </a:lnTo>
                <a:lnTo>
                  <a:pt x="3627397" y="3471881"/>
                </a:lnTo>
                <a:lnTo>
                  <a:pt x="0" y="3471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8851" y="465953"/>
            <a:ext cx="1544635" cy="868857"/>
          </a:xfrm>
          <a:custGeom>
            <a:avLst/>
            <a:gdLst/>
            <a:ahLst/>
            <a:cxnLst/>
            <a:rect r="r" b="b" t="t" l="l"/>
            <a:pathLst>
              <a:path h="868857" w="1544635">
                <a:moveTo>
                  <a:pt x="0" y="0"/>
                </a:moveTo>
                <a:lnTo>
                  <a:pt x="1544635" y="0"/>
                </a:lnTo>
                <a:lnTo>
                  <a:pt x="1544635" y="868857"/>
                </a:lnTo>
                <a:lnTo>
                  <a:pt x="0" y="868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45219" y="-84589"/>
            <a:ext cx="9058857" cy="118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61"/>
              </a:lnSpc>
              <a:spcBef>
                <a:spcPct val="0"/>
              </a:spcBef>
            </a:pPr>
            <a:r>
              <a:rPr lang="en-US" sz="6615">
                <a:solidFill>
                  <a:srgbClr val="3776AA"/>
                </a:solidFill>
                <a:latin typeface="Poppins"/>
                <a:ea typeface="Poppins"/>
                <a:cs typeface="Poppins"/>
                <a:sym typeface="Poppins"/>
              </a:rPr>
              <a:t>CHƯƠNG 6: STRING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7302" y="669078"/>
            <a:ext cx="2423333" cy="35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  <a:spcBef>
                <a:spcPct val="0"/>
              </a:spcBef>
            </a:pPr>
            <a:r>
              <a:rPr lang="en-US" sz="2029">
                <a:solidFill>
                  <a:srgbClr val="FFB600"/>
                </a:solidFill>
                <a:latin typeface="Poppins"/>
                <a:ea typeface="Poppins"/>
                <a:cs typeface="Poppins"/>
                <a:sym typeface="Poppins"/>
              </a:rPr>
              <a:t>PYTHON</a:t>
            </a:r>
          </a:p>
        </p:txBody>
      </p:sp>
      <p:grpSp>
        <p:nvGrpSpPr>
          <p:cNvPr name="Group 11" id="11"/>
          <p:cNvGrpSpPr/>
          <p:nvPr/>
        </p:nvGrpSpPr>
        <p:grpSpPr>
          <a:xfrm rot="-10800000">
            <a:off x="230878" y="3966878"/>
            <a:ext cx="4119758" cy="356637"/>
            <a:chOff x="0" y="0"/>
            <a:chExt cx="1524776" cy="131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230878" y="4250110"/>
            <a:ext cx="4119758" cy="155515"/>
            <a:chOff x="0" y="0"/>
            <a:chExt cx="1524776" cy="575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776" cy="57558"/>
            </a:xfrm>
            <a:custGeom>
              <a:avLst/>
              <a:gdLst/>
              <a:ahLst/>
              <a:cxnLst/>
              <a:rect r="r" b="b" t="t" l="l"/>
              <a:pathLst>
                <a:path h="57558" w="1524776">
                  <a:moveTo>
                    <a:pt x="28779" y="0"/>
                  </a:moveTo>
                  <a:lnTo>
                    <a:pt x="1495997" y="0"/>
                  </a:lnTo>
                  <a:cubicBezTo>
                    <a:pt x="1503629" y="0"/>
                    <a:pt x="1510949" y="3032"/>
                    <a:pt x="1516347" y="8429"/>
                  </a:cubicBezTo>
                  <a:cubicBezTo>
                    <a:pt x="1521744" y="13826"/>
                    <a:pt x="1524776" y="21146"/>
                    <a:pt x="1524776" y="28779"/>
                  </a:cubicBezTo>
                  <a:lnTo>
                    <a:pt x="1524776" y="28779"/>
                  </a:lnTo>
                  <a:cubicBezTo>
                    <a:pt x="1524776" y="36412"/>
                    <a:pt x="1521744" y="43732"/>
                    <a:pt x="1516347" y="49129"/>
                  </a:cubicBezTo>
                  <a:cubicBezTo>
                    <a:pt x="1510949" y="54526"/>
                    <a:pt x="1503629" y="57558"/>
                    <a:pt x="1495997" y="57558"/>
                  </a:cubicBezTo>
                  <a:lnTo>
                    <a:pt x="28779" y="57558"/>
                  </a:lnTo>
                  <a:cubicBezTo>
                    <a:pt x="21146" y="57558"/>
                    <a:pt x="13826" y="54526"/>
                    <a:pt x="8429" y="49129"/>
                  </a:cubicBezTo>
                  <a:cubicBezTo>
                    <a:pt x="3032" y="43732"/>
                    <a:pt x="0" y="36412"/>
                    <a:pt x="0" y="28779"/>
                  </a:cubicBezTo>
                  <a:lnTo>
                    <a:pt x="0" y="28779"/>
                  </a:lnTo>
                  <a:cubicBezTo>
                    <a:pt x="0" y="21146"/>
                    <a:pt x="3032" y="13826"/>
                    <a:pt x="8429" y="8429"/>
                  </a:cubicBezTo>
                  <a:cubicBezTo>
                    <a:pt x="13826" y="3032"/>
                    <a:pt x="21146" y="0"/>
                    <a:pt x="287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524776" cy="105183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60341" y="4544912"/>
            <a:ext cx="460831" cy="294971"/>
            <a:chOff x="0" y="0"/>
            <a:chExt cx="154418" cy="988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4418" cy="98841"/>
            </a:xfrm>
            <a:custGeom>
              <a:avLst/>
              <a:gdLst/>
              <a:ahLst/>
              <a:cxnLst/>
              <a:rect r="r" b="b" t="t" l="l"/>
              <a:pathLst>
                <a:path h="98841" w="154418">
                  <a:moveTo>
                    <a:pt x="0" y="0"/>
                  </a:moveTo>
                  <a:lnTo>
                    <a:pt x="154418" y="0"/>
                  </a:lnTo>
                  <a:lnTo>
                    <a:pt x="154418" y="98841"/>
                  </a:lnTo>
                  <a:lnTo>
                    <a:pt x="0" y="988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4418" cy="146466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3279" y="1390642"/>
            <a:ext cx="4428602" cy="4002349"/>
          </a:xfrm>
          <a:custGeom>
            <a:avLst/>
            <a:gdLst/>
            <a:ahLst/>
            <a:cxnLst/>
            <a:rect r="r" b="b" t="t" l="l"/>
            <a:pathLst>
              <a:path h="4002349" w="4428602">
                <a:moveTo>
                  <a:pt x="0" y="0"/>
                </a:moveTo>
                <a:lnTo>
                  <a:pt x="4428602" y="0"/>
                </a:lnTo>
                <a:lnTo>
                  <a:pt x="4428602" y="4002349"/>
                </a:lnTo>
                <a:lnTo>
                  <a:pt x="0" y="40023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230878" y="1809096"/>
            <a:ext cx="4119758" cy="2137592"/>
            <a:chOff x="0" y="0"/>
            <a:chExt cx="1471831" cy="763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471831" cy="81130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5484" y="1629080"/>
            <a:ext cx="4023045" cy="107047"/>
            <a:chOff x="0" y="0"/>
            <a:chExt cx="1946005" cy="517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46005" cy="51780"/>
            </a:xfrm>
            <a:custGeom>
              <a:avLst/>
              <a:gdLst/>
              <a:ahLst/>
              <a:cxnLst/>
              <a:rect r="r" b="b" t="t" l="l"/>
              <a:pathLst>
                <a:path h="51780" w="1946005">
                  <a:moveTo>
                    <a:pt x="25890" y="0"/>
                  </a:moveTo>
                  <a:lnTo>
                    <a:pt x="1920115" y="0"/>
                  </a:lnTo>
                  <a:cubicBezTo>
                    <a:pt x="1926982" y="0"/>
                    <a:pt x="1933567" y="2728"/>
                    <a:pt x="1938422" y="7583"/>
                  </a:cubicBezTo>
                  <a:cubicBezTo>
                    <a:pt x="1943278" y="12438"/>
                    <a:pt x="1946005" y="19024"/>
                    <a:pt x="1946005" y="25890"/>
                  </a:cubicBezTo>
                  <a:lnTo>
                    <a:pt x="1946005" y="25890"/>
                  </a:lnTo>
                  <a:cubicBezTo>
                    <a:pt x="1946005" y="32757"/>
                    <a:pt x="1943278" y="39342"/>
                    <a:pt x="1938422" y="44197"/>
                  </a:cubicBezTo>
                  <a:cubicBezTo>
                    <a:pt x="1933567" y="49052"/>
                    <a:pt x="1926982" y="51780"/>
                    <a:pt x="1920115" y="51780"/>
                  </a:cubicBezTo>
                  <a:lnTo>
                    <a:pt x="25890" y="51780"/>
                  </a:lnTo>
                  <a:cubicBezTo>
                    <a:pt x="19024" y="51780"/>
                    <a:pt x="12438" y="49052"/>
                    <a:pt x="7583" y="44197"/>
                  </a:cubicBezTo>
                  <a:cubicBezTo>
                    <a:pt x="2728" y="39342"/>
                    <a:pt x="0" y="32757"/>
                    <a:pt x="0" y="25890"/>
                  </a:cubicBezTo>
                  <a:lnTo>
                    <a:pt x="0" y="25890"/>
                  </a:lnTo>
                  <a:cubicBezTo>
                    <a:pt x="0" y="19024"/>
                    <a:pt x="2728" y="12438"/>
                    <a:pt x="7583" y="7583"/>
                  </a:cubicBezTo>
                  <a:cubicBezTo>
                    <a:pt x="12438" y="2728"/>
                    <a:pt x="19024" y="0"/>
                    <a:pt x="25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946005" cy="9940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30878" y="1751946"/>
            <a:ext cx="4119758" cy="31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sz="1784">
                <a:solidFill>
                  <a:srgbClr val="0000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LÀ GÌ?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0878" y="2222104"/>
            <a:ext cx="4119758" cy="31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sz="1784">
                <a:solidFill>
                  <a:srgbClr val="0000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Chuỗi kí tự cùng đấu ‘...’ hoặc “...”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047" y="2727516"/>
            <a:ext cx="4216589" cy="62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sz="1784">
                <a:solidFill>
                  <a:srgbClr val="0000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Chuỗi không thể thay đổi trực tiếp, cần phải tạo chuỗi mới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30878" y="3508497"/>
            <a:ext cx="4119758" cy="31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7"/>
              </a:lnSpc>
              <a:spcBef>
                <a:spcPct val="0"/>
              </a:spcBef>
            </a:pPr>
            <a:r>
              <a:rPr lang="en-US" sz="1784">
                <a:solidFill>
                  <a:srgbClr val="00000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Dùng str() để chuyển sang chuỗi</a:t>
            </a:r>
          </a:p>
        </p:txBody>
      </p:sp>
      <p:grpSp>
        <p:nvGrpSpPr>
          <p:cNvPr name="Group 31" id="31"/>
          <p:cNvGrpSpPr/>
          <p:nvPr/>
        </p:nvGrpSpPr>
        <p:grpSpPr>
          <a:xfrm rot="-10800000">
            <a:off x="275484" y="8236310"/>
            <a:ext cx="4172922" cy="361240"/>
            <a:chOff x="0" y="0"/>
            <a:chExt cx="1524776" cy="1319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19069" y="5603100"/>
            <a:ext cx="4485752" cy="4053998"/>
          </a:xfrm>
          <a:custGeom>
            <a:avLst/>
            <a:gdLst/>
            <a:ahLst/>
            <a:cxnLst/>
            <a:rect r="r" b="b" t="t" l="l"/>
            <a:pathLst>
              <a:path h="4053998" w="4485752">
                <a:moveTo>
                  <a:pt x="0" y="0"/>
                </a:moveTo>
                <a:lnTo>
                  <a:pt x="4485752" y="0"/>
                </a:lnTo>
                <a:lnTo>
                  <a:pt x="4485752" y="4053998"/>
                </a:lnTo>
                <a:lnTo>
                  <a:pt x="0" y="4053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275484" y="6003256"/>
            <a:ext cx="4172922" cy="2084839"/>
            <a:chOff x="0" y="0"/>
            <a:chExt cx="1471831" cy="7353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71831" cy="735343"/>
            </a:xfrm>
            <a:custGeom>
              <a:avLst/>
              <a:gdLst/>
              <a:ahLst/>
              <a:cxnLst/>
              <a:rect r="r" b="b" t="t" l="l"/>
              <a:pathLst>
                <a:path h="735343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35343"/>
                  </a:lnTo>
                  <a:lnTo>
                    <a:pt x="0" y="73534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471831" cy="782968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DUYỆT CHUỖI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c in s: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print(c)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count = 0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 c in s: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if c == 'a':</a:t>
              </a:r>
            </a:p>
            <a:p>
              <a:pPr algn="ctr">
                <a:lnSpc>
                  <a:spcPts val="2239"/>
                </a:lnSpc>
              </a:pPr>
              <a:r>
                <a:rPr lang="en-US" sz="1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count += 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5484" y="5715695"/>
            <a:ext cx="4172922" cy="219685"/>
            <a:chOff x="0" y="0"/>
            <a:chExt cx="1471831" cy="7748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71831" cy="77485"/>
            </a:xfrm>
            <a:custGeom>
              <a:avLst/>
              <a:gdLst/>
              <a:ahLst/>
              <a:cxnLst/>
              <a:rect r="r" b="b" t="t" l="l"/>
              <a:pathLst>
                <a:path h="77485" w="1471831">
                  <a:moveTo>
                    <a:pt x="38743" y="0"/>
                  </a:moveTo>
                  <a:lnTo>
                    <a:pt x="1433089" y="0"/>
                  </a:lnTo>
                  <a:cubicBezTo>
                    <a:pt x="1454486" y="0"/>
                    <a:pt x="1471831" y="17346"/>
                    <a:pt x="1471831" y="38743"/>
                  </a:cubicBezTo>
                  <a:lnTo>
                    <a:pt x="1471831" y="38743"/>
                  </a:lnTo>
                  <a:cubicBezTo>
                    <a:pt x="1471831" y="49018"/>
                    <a:pt x="1467750" y="58872"/>
                    <a:pt x="1460484" y="66138"/>
                  </a:cubicBezTo>
                  <a:cubicBezTo>
                    <a:pt x="1453218" y="73403"/>
                    <a:pt x="1443364" y="77485"/>
                    <a:pt x="1433089" y="77485"/>
                  </a:cubicBezTo>
                  <a:lnTo>
                    <a:pt x="38743" y="77485"/>
                  </a:lnTo>
                  <a:cubicBezTo>
                    <a:pt x="28467" y="77485"/>
                    <a:pt x="18613" y="73403"/>
                    <a:pt x="11347" y="66138"/>
                  </a:cubicBezTo>
                  <a:cubicBezTo>
                    <a:pt x="4082" y="58872"/>
                    <a:pt x="0" y="49018"/>
                    <a:pt x="0" y="38743"/>
                  </a:cubicBezTo>
                  <a:lnTo>
                    <a:pt x="0" y="38743"/>
                  </a:lnTo>
                  <a:cubicBezTo>
                    <a:pt x="0" y="28467"/>
                    <a:pt x="4082" y="18613"/>
                    <a:pt x="11347" y="11347"/>
                  </a:cubicBezTo>
                  <a:cubicBezTo>
                    <a:pt x="18613" y="4082"/>
                    <a:pt x="28467" y="0"/>
                    <a:pt x="387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471831" cy="125110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53486" y="8815583"/>
            <a:ext cx="441848" cy="243890"/>
            <a:chOff x="0" y="0"/>
            <a:chExt cx="146171" cy="806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171" cy="80683"/>
            </a:xfrm>
            <a:custGeom>
              <a:avLst/>
              <a:gdLst/>
              <a:ahLst/>
              <a:cxnLst/>
              <a:rect r="r" b="b" t="t" l="l"/>
              <a:pathLst>
                <a:path h="80683" w="146171">
                  <a:moveTo>
                    <a:pt x="0" y="0"/>
                  </a:moveTo>
                  <a:lnTo>
                    <a:pt x="146171" y="0"/>
                  </a:lnTo>
                  <a:lnTo>
                    <a:pt x="146171" y="80683"/>
                  </a:lnTo>
                  <a:lnTo>
                    <a:pt x="0" y="806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46171" cy="128308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10800000">
            <a:off x="4716924" y="4000050"/>
            <a:ext cx="4312270" cy="373303"/>
            <a:chOff x="0" y="0"/>
            <a:chExt cx="1524776" cy="1319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4624492" y="1303265"/>
            <a:ext cx="4497133" cy="4064284"/>
          </a:xfrm>
          <a:custGeom>
            <a:avLst/>
            <a:gdLst/>
            <a:ahLst/>
            <a:cxnLst/>
            <a:rect r="r" b="b" t="t" l="l"/>
            <a:pathLst>
              <a:path h="4064284" w="4497133">
                <a:moveTo>
                  <a:pt x="0" y="0"/>
                </a:moveTo>
                <a:lnTo>
                  <a:pt x="4497134" y="0"/>
                </a:lnTo>
                <a:lnTo>
                  <a:pt x="4497134" y="4064285"/>
                </a:lnTo>
                <a:lnTo>
                  <a:pt x="0" y="40642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716924" y="1707073"/>
            <a:ext cx="4312270" cy="2237479"/>
            <a:chOff x="0" y="0"/>
            <a:chExt cx="1471831" cy="763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1471831" cy="81130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716924" y="1424553"/>
            <a:ext cx="4312270" cy="227021"/>
            <a:chOff x="0" y="0"/>
            <a:chExt cx="1471831" cy="7748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71831" cy="77485"/>
            </a:xfrm>
            <a:custGeom>
              <a:avLst/>
              <a:gdLst/>
              <a:ahLst/>
              <a:cxnLst/>
              <a:rect r="r" b="b" t="t" l="l"/>
              <a:pathLst>
                <a:path h="77485" w="1471831">
                  <a:moveTo>
                    <a:pt x="38743" y="0"/>
                  </a:moveTo>
                  <a:lnTo>
                    <a:pt x="1433089" y="0"/>
                  </a:lnTo>
                  <a:cubicBezTo>
                    <a:pt x="1454486" y="0"/>
                    <a:pt x="1471831" y="17346"/>
                    <a:pt x="1471831" y="38743"/>
                  </a:cubicBezTo>
                  <a:lnTo>
                    <a:pt x="1471831" y="38743"/>
                  </a:lnTo>
                  <a:cubicBezTo>
                    <a:pt x="1471831" y="49018"/>
                    <a:pt x="1467750" y="58872"/>
                    <a:pt x="1460484" y="66138"/>
                  </a:cubicBezTo>
                  <a:cubicBezTo>
                    <a:pt x="1453218" y="73403"/>
                    <a:pt x="1443364" y="77485"/>
                    <a:pt x="1433089" y="77485"/>
                  </a:cubicBezTo>
                  <a:lnTo>
                    <a:pt x="38743" y="77485"/>
                  </a:lnTo>
                  <a:cubicBezTo>
                    <a:pt x="28467" y="77485"/>
                    <a:pt x="18613" y="73403"/>
                    <a:pt x="11347" y="66138"/>
                  </a:cubicBezTo>
                  <a:cubicBezTo>
                    <a:pt x="4082" y="58872"/>
                    <a:pt x="0" y="49018"/>
                    <a:pt x="0" y="38743"/>
                  </a:cubicBezTo>
                  <a:lnTo>
                    <a:pt x="0" y="38743"/>
                  </a:lnTo>
                  <a:cubicBezTo>
                    <a:pt x="0" y="28467"/>
                    <a:pt x="4082" y="18613"/>
                    <a:pt x="11347" y="11347"/>
                  </a:cubicBezTo>
                  <a:cubicBezTo>
                    <a:pt x="18613" y="4082"/>
                    <a:pt x="28467" y="0"/>
                    <a:pt x="387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1471831" cy="125110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623717" y="4499370"/>
            <a:ext cx="477643" cy="336197"/>
            <a:chOff x="0" y="0"/>
            <a:chExt cx="152907" cy="10762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4916889" y="1818760"/>
            <a:ext cx="3891299" cy="2367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4"/>
              </a:lnSpc>
            </a:pPr>
            <a:r>
              <a:rPr lang="en-US" sz="2253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TRUY CẬP KÍ TỰ</a:t>
            </a:r>
          </a:p>
          <a:p>
            <a:pPr algn="ctr">
              <a:lnSpc>
                <a:spcPts val="3154"/>
              </a:lnSpc>
            </a:pPr>
            <a:r>
              <a:rPr lang="en-US" sz="2253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S = "BANANA"</a:t>
            </a:r>
          </a:p>
          <a:p>
            <a:pPr algn="ctr">
              <a:lnSpc>
                <a:spcPts val="3154"/>
              </a:lnSpc>
            </a:pPr>
            <a:r>
              <a:rPr lang="en-US" sz="2253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s[0]   # 'b'</a:t>
            </a:r>
          </a:p>
          <a:p>
            <a:pPr algn="ctr">
              <a:lnSpc>
                <a:spcPts val="3154"/>
              </a:lnSpc>
            </a:pPr>
            <a:r>
              <a:rPr lang="en-US" sz="2253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s[5]   # 'a'</a:t>
            </a:r>
          </a:p>
          <a:p>
            <a:pPr algn="ctr">
              <a:lnSpc>
                <a:spcPts val="3154"/>
              </a:lnSpc>
            </a:pPr>
            <a:r>
              <a:rPr lang="en-US" sz="2253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len(s) # 6</a:t>
            </a:r>
          </a:p>
          <a:p>
            <a:pPr algn="ctr">
              <a:lnSpc>
                <a:spcPts val="3154"/>
              </a:lnSpc>
              <a:spcBef>
                <a:spcPct val="0"/>
              </a:spcBef>
            </a:pPr>
          </a:p>
        </p:txBody>
      </p:sp>
      <p:grpSp>
        <p:nvGrpSpPr>
          <p:cNvPr name="Group 58" id="58"/>
          <p:cNvGrpSpPr/>
          <p:nvPr/>
        </p:nvGrpSpPr>
        <p:grpSpPr>
          <a:xfrm rot="-10800000">
            <a:off x="9361780" y="3924782"/>
            <a:ext cx="4177228" cy="361612"/>
            <a:chOff x="0" y="0"/>
            <a:chExt cx="1524776" cy="1319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219469" y="1334810"/>
            <a:ext cx="4490380" cy="4058181"/>
          </a:xfrm>
          <a:custGeom>
            <a:avLst/>
            <a:gdLst/>
            <a:ahLst/>
            <a:cxnLst/>
            <a:rect r="r" b="b" t="t" l="l"/>
            <a:pathLst>
              <a:path h="4058181" w="4490380">
                <a:moveTo>
                  <a:pt x="0" y="0"/>
                </a:moveTo>
                <a:lnTo>
                  <a:pt x="4490381" y="0"/>
                </a:lnTo>
                <a:lnTo>
                  <a:pt x="4490381" y="4058181"/>
                </a:lnTo>
                <a:lnTo>
                  <a:pt x="0" y="40581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9361780" y="1703610"/>
            <a:ext cx="4177228" cy="2167411"/>
            <a:chOff x="0" y="0"/>
            <a:chExt cx="1471831" cy="7636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1471831" cy="83035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PARSING CHUỖI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line = "X:0.8475"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 = line.find(":")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 = float(line[p+1:])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61780" y="1429938"/>
            <a:ext cx="4177228" cy="219912"/>
            <a:chOff x="0" y="0"/>
            <a:chExt cx="1471831" cy="7748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71831" cy="77485"/>
            </a:xfrm>
            <a:custGeom>
              <a:avLst/>
              <a:gdLst/>
              <a:ahLst/>
              <a:cxnLst/>
              <a:rect r="r" b="b" t="t" l="l"/>
              <a:pathLst>
                <a:path h="77485" w="1471831">
                  <a:moveTo>
                    <a:pt x="38743" y="0"/>
                  </a:moveTo>
                  <a:lnTo>
                    <a:pt x="1433089" y="0"/>
                  </a:lnTo>
                  <a:cubicBezTo>
                    <a:pt x="1454486" y="0"/>
                    <a:pt x="1471831" y="17346"/>
                    <a:pt x="1471831" y="38743"/>
                  </a:cubicBezTo>
                  <a:lnTo>
                    <a:pt x="1471831" y="38743"/>
                  </a:lnTo>
                  <a:cubicBezTo>
                    <a:pt x="1471831" y="49018"/>
                    <a:pt x="1467750" y="58872"/>
                    <a:pt x="1460484" y="66138"/>
                  </a:cubicBezTo>
                  <a:cubicBezTo>
                    <a:pt x="1453218" y="73403"/>
                    <a:pt x="1443364" y="77485"/>
                    <a:pt x="1433089" y="77485"/>
                  </a:cubicBezTo>
                  <a:lnTo>
                    <a:pt x="38743" y="77485"/>
                  </a:lnTo>
                  <a:cubicBezTo>
                    <a:pt x="28467" y="77485"/>
                    <a:pt x="18613" y="73403"/>
                    <a:pt x="11347" y="66138"/>
                  </a:cubicBezTo>
                  <a:cubicBezTo>
                    <a:pt x="4082" y="58872"/>
                    <a:pt x="0" y="49018"/>
                    <a:pt x="0" y="38743"/>
                  </a:cubicBezTo>
                  <a:lnTo>
                    <a:pt x="0" y="38743"/>
                  </a:lnTo>
                  <a:cubicBezTo>
                    <a:pt x="0" y="28467"/>
                    <a:pt x="4082" y="18613"/>
                    <a:pt x="11347" y="11347"/>
                  </a:cubicBezTo>
                  <a:cubicBezTo>
                    <a:pt x="18613" y="4082"/>
                    <a:pt x="28467" y="0"/>
                    <a:pt x="387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471831" cy="125110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208861" y="4408465"/>
            <a:ext cx="462686" cy="325669"/>
            <a:chOff x="0" y="0"/>
            <a:chExt cx="152907" cy="10762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-10800000">
            <a:off x="4763004" y="8318556"/>
            <a:ext cx="4220110" cy="365324"/>
            <a:chOff x="0" y="0"/>
            <a:chExt cx="1524776" cy="1319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4604821" y="5647783"/>
            <a:ext cx="4536477" cy="4099841"/>
          </a:xfrm>
          <a:custGeom>
            <a:avLst/>
            <a:gdLst/>
            <a:ahLst/>
            <a:cxnLst/>
            <a:rect r="r" b="b" t="t" l="l"/>
            <a:pathLst>
              <a:path h="4099841" w="4536477">
                <a:moveTo>
                  <a:pt x="0" y="0"/>
                </a:moveTo>
                <a:lnTo>
                  <a:pt x="4536476" y="0"/>
                </a:lnTo>
                <a:lnTo>
                  <a:pt x="4536476" y="4099841"/>
                </a:lnTo>
                <a:lnTo>
                  <a:pt x="0" y="40998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4763004" y="6074583"/>
            <a:ext cx="4220110" cy="2189661"/>
            <a:chOff x="0" y="0"/>
            <a:chExt cx="1471831" cy="763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1471831" cy="81130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CẮT CHUỖI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= "Monty Python"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s[0:5] → "Monty"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s[6:] → "Python"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s[:4] → "Mont"</a:t>
              </a:r>
            </a:p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770228" y="5853724"/>
            <a:ext cx="4212886" cy="207259"/>
            <a:chOff x="0" y="0"/>
            <a:chExt cx="1444783" cy="7107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44783" cy="71078"/>
            </a:xfrm>
            <a:custGeom>
              <a:avLst/>
              <a:gdLst/>
              <a:ahLst/>
              <a:cxnLst/>
              <a:rect r="r" b="b" t="t" l="l"/>
              <a:pathLst>
                <a:path h="71078" w="1444783">
                  <a:moveTo>
                    <a:pt x="35539" y="0"/>
                  </a:moveTo>
                  <a:lnTo>
                    <a:pt x="1409244" y="0"/>
                  </a:lnTo>
                  <a:cubicBezTo>
                    <a:pt x="1418670" y="0"/>
                    <a:pt x="1427709" y="3744"/>
                    <a:pt x="1434374" y="10409"/>
                  </a:cubicBezTo>
                  <a:cubicBezTo>
                    <a:pt x="1441039" y="17074"/>
                    <a:pt x="1444783" y="26114"/>
                    <a:pt x="1444783" y="35539"/>
                  </a:cubicBezTo>
                  <a:lnTo>
                    <a:pt x="1444783" y="35539"/>
                  </a:lnTo>
                  <a:cubicBezTo>
                    <a:pt x="1444783" y="44965"/>
                    <a:pt x="1441039" y="54004"/>
                    <a:pt x="1434374" y="60669"/>
                  </a:cubicBezTo>
                  <a:cubicBezTo>
                    <a:pt x="1427709" y="67334"/>
                    <a:pt x="1418670" y="71078"/>
                    <a:pt x="1409244" y="71078"/>
                  </a:cubicBezTo>
                  <a:lnTo>
                    <a:pt x="35539" y="71078"/>
                  </a:lnTo>
                  <a:cubicBezTo>
                    <a:pt x="26114" y="71078"/>
                    <a:pt x="17074" y="67334"/>
                    <a:pt x="10409" y="60669"/>
                  </a:cubicBezTo>
                  <a:cubicBezTo>
                    <a:pt x="3744" y="54004"/>
                    <a:pt x="0" y="44965"/>
                    <a:pt x="0" y="35539"/>
                  </a:cubicBezTo>
                  <a:lnTo>
                    <a:pt x="0" y="35539"/>
                  </a:lnTo>
                  <a:cubicBezTo>
                    <a:pt x="0" y="26114"/>
                    <a:pt x="3744" y="17074"/>
                    <a:pt x="10409" y="10409"/>
                  </a:cubicBezTo>
                  <a:cubicBezTo>
                    <a:pt x="17074" y="3744"/>
                    <a:pt x="26114" y="0"/>
                    <a:pt x="3553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1444783" cy="118703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629046" y="8807205"/>
            <a:ext cx="467435" cy="329012"/>
            <a:chOff x="0" y="0"/>
            <a:chExt cx="152907" cy="10762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-10800000">
            <a:off x="9440961" y="8253794"/>
            <a:ext cx="4165864" cy="360629"/>
            <a:chOff x="0" y="0"/>
            <a:chExt cx="1524776" cy="13199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9274647" y="5617351"/>
            <a:ext cx="4454213" cy="4025495"/>
          </a:xfrm>
          <a:custGeom>
            <a:avLst/>
            <a:gdLst/>
            <a:ahLst/>
            <a:cxnLst/>
            <a:rect r="r" b="b" t="t" l="l"/>
            <a:pathLst>
              <a:path h="4025495" w="4454213">
                <a:moveTo>
                  <a:pt x="0" y="0"/>
                </a:moveTo>
                <a:lnTo>
                  <a:pt x="4454214" y="0"/>
                </a:lnTo>
                <a:lnTo>
                  <a:pt x="4454214" y="4025496"/>
                </a:lnTo>
                <a:lnTo>
                  <a:pt x="0" y="402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9440961" y="6021340"/>
            <a:ext cx="4165864" cy="2161515"/>
            <a:chOff x="0" y="0"/>
            <a:chExt cx="1471831" cy="763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66675"/>
              <a:ext cx="1471831" cy="83035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TOÁN TỬ CHUỖI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"A" + "B" → "AB"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"na" in "banana" → True</a:t>
              </a:r>
            </a:p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440961" y="5805513"/>
            <a:ext cx="4165864" cy="143250"/>
            <a:chOff x="0" y="0"/>
            <a:chExt cx="1471831" cy="506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471831" cy="50611"/>
            </a:xfrm>
            <a:custGeom>
              <a:avLst/>
              <a:gdLst/>
              <a:ahLst/>
              <a:cxnLst/>
              <a:rect r="r" b="b" t="t" l="l"/>
              <a:pathLst>
                <a:path h="50611" w="1471831">
                  <a:moveTo>
                    <a:pt x="25306" y="0"/>
                  </a:moveTo>
                  <a:lnTo>
                    <a:pt x="1446526" y="0"/>
                  </a:lnTo>
                  <a:cubicBezTo>
                    <a:pt x="1453237" y="0"/>
                    <a:pt x="1459674" y="2666"/>
                    <a:pt x="1464420" y="7412"/>
                  </a:cubicBezTo>
                  <a:cubicBezTo>
                    <a:pt x="1469165" y="12158"/>
                    <a:pt x="1471831" y="18594"/>
                    <a:pt x="1471831" y="25306"/>
                  </a:cubicBezTo>
                  <a:lnTo>
                    <a:pt x="1471831" y="25306"/>
                  </a:lnTo>
                  <a:cubicBezTo>
                    <a:pt x="1471831" y="32017"/>
                    <a:pt x="1469165" y="38454"/>
                    <a:pt x="1464420" y="43199"/>
                  </a:cubicBezTo>
                  <a:cubicBezTo>
                    <a:pt x="1459674" y="47945"/>
                    <a:pt x="1453237" y="50611"/>
                    <a:pt x="1446526" y="50611"/>
                  </a:cubicBezTo>
                  <a:lnTo>
                    <a:pt x="25306" y="50611"/>
                  </a:lnTo>
                  <a:cubicBezTo>
                    <a:pt x="18594" y="50611"/>
                    <a:pt x="12158" y="47945"/>
                    <a:pt x="7412" y="43199"/>
                  </a:cubicBezTo>
                  <a:cubicBezTo>
                    <a:pt x="2666" y="38454"/>
                    <a:pt x="0" y="32017"/>
                    <a:pt x="0" y="25306"/>
                  </a:cubicBezTo>
                  <a:lnTo>
                    <a:pt x="0" y="25306"/>
                  </a:lnTo>
                  <a:cubicBezTo>
                    <a:pt x="0" y="18594"/>
                    <a:pt x="2666" y="12158"/>
                    <a:pt x="7412" y="7412"/>
                  </a:cubicBezTo>
                  <a:cubicBezTo>
                    <a:pt x="12158" y="2666"/>
                    <a:pt x="18594" y="0"/>
                    <a:pt x="2530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471831" cy="98236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283016" y="8736162"/>
            <a:ext cx="461427" cy="324783"/>
            <a:chOff x="0" y="0"/>
            <a:chExt cx="152907" cy="10762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-10800000">
            <a:off x="14024303" y="8250301"/>
            <a:ext cx="4112259" cy="355988"/>
            <a:chOff x="0" y="0"/>
            <a:chExt cx="1524776" cy="13199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00" id="100"/>
          <p:cNvSpPr/>
          <p:nvPr/>
        </p:nvSpPr>
        <p:spPr>
          <a:xfrm flipH="false" flipV="false" rot="0">
            <a:off x="13860130" y="5647783"/>
            <a:ext cx="4420541" cy="3995064"/>
          </a:xfrm>
          <a:custGeom>
            <a:avLst/>
            <a:gdLst/>
            <a:ahLst/>
            <a:cxnLst/>
            <a:rect r="r" b="b" t="t" l="l"/>
            <a:pathLst>
              <a:path h="3995064" w="4420541">
                <a:moveTo>
                  <a:pt x="0" y="0"/>
                </a:moveTo>
                <a:lnTo>
                  <a:pt x="4420541" y="0"/>
                </a:lnTo>
                <a:lnTo>
                  <a:pt x="4420541" y="3995064"/>
                </a:lnTo>
                <a:lnTo>
                  <a:pt x="0" y="39950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14024303" y="6063676"/>
            <a:ext cx="4112259" cy="2278753"/>
            <a:chOff x="0" y="0"/>
            <a:chExt cx="1471831" cy="81559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471831" cy="815596"/>
            </a:xfrm>
            <a:custGeom>
              <a:avLst/>
              <a:gdLst/>
              <a:ahLst/>
              <a:cxnLst/>
              <a:rect r="r" b="b" t="t" l="l"/>
              <a:pathLst>
                <a:path h="815596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815596"/>
                  </a:lnTo>
                  <a:lnTo>
                    <a:pt x="0" y="8155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57150"/>
              <a:ext cx="1471831" cy="872746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HÀM CHUỖI QUAN TRỌNG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s.lower(), s.upper()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s.find("na")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s.replace("Bob","Ann")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s.strip()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s.startswith("From")</a:t>
              </a:r>
            </a:p>
            <a:p>
              <a:pPr algn="ctr">
                <a:lnSpc>
                  <a:spcPts val="1084"/>
                </a:lnSpc>
              </a:pP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860130" y="5798896"/>
            <a:ext cx="4242417" cy="223344"/>
            <a:chOff x="0" y="0"/>
            <a:chExt cx="1471831" cy="7748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471831" cy="77485"/>
            </a:xfrm>
            <a:custGeom>
              <a:avLst/>
              <a:gdLst/>
              <a:ahLst/>
              <a:cxnLst/>
              <a:rect r="r" b="b" t="t" l="l"/>
              <a:pathLst>
                <a:path h="77485" w="1471831">
                  <a:moveTo>
                    <a:pt x="38743" y="0"/>
                  </a:moveTo>
                  <a:lnTo>
                    <a:pt x="1433089" y="0"/>
                  </a:lnTo>
                  <a:cubicBezTo>
                    <a:pt x="1454486" y="0"/>
                    <a:pt x="1471831" y="17346"/>
                    <a:pt x="1471831" y="38743"/>
                  </a:cubicBezTo>
                  <a:lnTo>
                    <a:pt x="1471831" y="38743"/>
                  </a:lnTo>
                  <a:cubicBezTo>
                    <a:pt x="1471831" y="49018"/>
                    <a:pt x="1467750" y="58872"/>
                    <a:pt x="1460484" y="66138"/>
                  </a:cubicBezTo>
                  <a:cubicBezTo>
                    <a:pt x="1453218" y="73403"/>
                    <a:pt x="1443364" y="77485"/>
                    <a:pt x="1433089" y="77485"/>
                  </a:cubicBezTo>
                  <a:lnTo>
                    <a:pt x="38743" y="77485"/>
                  </a:lnTo>
                  <a:cubicBezTo>
                    <a:pt x="28467" y="77485"/>
                    <a:pt x="18613" y="73403"/>
                    <a:pt x="11347" y="66138"/>
                  </a:cubicBezTo>
                  <a:cubicBezTo>
                    <a:pt x="4082" y="58872"/>
                    <a:pt x="0" y="49018"/>
                    <a:pt x="0" y="38743"/>
                  </a:cubicBezTo>
                  <a:lnTo>
                    <a:pt x="0" y="38743"/>
                  </a:lnTo>
                  <a:cubicBezTo>
                    <a:pt x="0" y="28467"/>
                    <a:pt x="4082" y="18613"/>
                    <a:pt x="11347" y="11347"/>
                  </a:cubicBezTo>
                  <a:cubicBezTo>
                    <a:pt x="18613" y="4082"/>
                    <a:pt x="28467" y="0"/>
                    <a:pt x="3874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1471831" cy="125110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5842656" y="8726461"/>
            <a:ext cx="455489" cy="320603"/>
            <a:chOff x="0" y="0"/>
            <a:chExt cx="152907" cy="10762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0" id="110"/>
          <p:cNvGrpSpPr/>
          <p:nvPr/>
        </p:nvGrpSpPr>
        <p:grpSpPr>
          <a:xfrm rot="-10800000">
            <a:off x="13878927" y="4004647"/>
            <a:ext cx="4268475" cy="369511"/>
            <a:chOff x="0" y="0"/>
            <a:chExt cx="1524776" cy="13199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24776" cy="131996"/>
            </a:xfrm>
            <a:custGeom>
              <a:avLst/>
              <a:gdLst/>
              <a:ahLst/>
              <a:cxnLst/>
              <a:rect r="r" b="b" t="t" l="l"/>
              <a:pathLst>
                <a:path h="131996" w="1524776">
                  <a:moveTo>
                    <a:pt x="0" y="0"/>
                  </a:moveTo>
                  <a:lnTo>
                    <a:pt x="1524776" y="0"/>
                  </a:lnTo>
                  <a:lnTo>
                    <a:pt x="1524776" y="131996"/>
                  </a:lnTo>
                  <a:lnTo>
                    <a:pt x="0" y="13199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1524776" cy="179621"/>
            </a:xfrm>
            <a:prstGeom prst="rect">
              <a:avLst/>
            </a:prstGeom>
          </p:spPr>
          <p:txBody>
            <a:bodyPr anchor="ctr" rtlCol="false" tIns="68818" lIns="68818" bIns="68818" rIns="68818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13806543" y="1336788"/>
            <a:ext cx="4547781" cy="4110057"/>
          </a:xfrm>
          <a:custGeom>
            <a:avLst/>
            <a:gdLst/>
            <a:ahLst/>
            <a:cxnLst/>
            <a:rect r="r" b="b" t="t" l="l"/>
            <a:pathLst>
              <a:path h="4110057" w="4547781">
                <a:moveTo>
                  <a:pt x="0" y="0"/>
                </a:moveTo>
                <a:lnTo>
                  <a:pt x="4547780" y="0"/>
                </a:lnTo>
                <a:lnTo>
                  <a:pt x="4547780" y="4110057"/>
                </a:lnTo>
                <a:lnTo>
                  <a:pt x="0" y="41100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3878927" y="1697557"/>
            <a:ext cx="4268475" cy="2214756"/>
            <a:chOff x="0" y="0"/>
            <a:chExt cx="1471831" cy="76368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471831" cy="763680"/>
            </a:xfrm>
            <a:custGeom>
              <a:avLst/>
              <a:gdLst/>
              <a:ahLst/>
              <a:cxnLst/>
              <a:rect r="r" b="b" t="t" l="l"/>
              <a:pathLst>
                <a:path h="763680" w="1471831">
                  <a:moveTo>
                    <a:pt x="0" y="0"/>
                  </a:moveTo>
                  <a:lnTo>
                    <a:pt x="1471831" y="0"/>
                  </a:lnTo>
                  <a:lnTo>
                    <a:pt x="1471831" y="763680"/>
                  </a:lnTo>
                  <a:lnTo>
                    <a:pt x="0" y="7636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66675"/>
              <a:ext cx="1471831" cy="830355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s[0] = 'H'  # lỗi</a:t>
              </a:r>
            </a:p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 = 'H' + s[1:]  # đúng</a:t>
              </a:r>
            </a:p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878927" y="1455276"/>
            <a:ext cx="4268475" cy="220144"/>
            <a:chOff x="0" y="0"/>
            <a:chExt cx="1471831" cy="7590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471831" cy="75909"/>
            </a:xfrm>
            <a:custGeom>
              <a:avLst/>
              <a:gdLst/>
              <a:ahLst/>
              <a:cxnLst/>
              <a:rect r="r" b="b" t="t" l="l"/>
              <a:pathLst>
                <a:path h="75909" w="1471831">
                  <a:moveTo>
                    <a:pt x="37954" y="0"/>
                  </a:moveTo>
                  <a:lnTo>
                    <a:pt x="1433877" y="0"/>
                  </a:lnTo>
                  <a:cubicBezTo>
                    <a:pt x="1454839" y="0"/>
                    <a:pt x="1471831" y="16993"/>
                    <a:pt x="1471831" y="37954"/>
                  </a:cubicBezTo>
                  <a:lnTo>
                    <a:pt x="1471831" y="37954"/>
                  </a:lnTo>
                  <a:cubicBezTo>
                    <a:pt x="1471831" y="48021"/>
                    <a:pt x="1467833" y="57674"/>
                    <a:pt x="1460715" y="64792"/>
                  </a:cubicBezTo>
                  <a:cubicBezTo>
                    <a:pt x="1453597" y="71910"/>
                    <a:pt x="1443943" y="75909"/>
                    <a:pt x="1433877" y="75909"/>
                  </a:cubicBezTo>
                  <a:lnTo>
                    <a:pt x="37954" y="75909"/>
                  </a:lnTo>
                  <a:cubicBezTo>
                    <a:pt x="27888" y="75909"/>
                    <a:pt x="18234" y="71910"/>
                    <a:pt x="11117" y="64792"/>
                  </a:cubicBezTo>
                  <a:cubicBezTo>
                    <a:pt x="3999" y="57674"/>
                    <a:pt x="0" y="48021"/>
                    <a:pt x="0" y="37954"/>
                  </a:cubicBezTo>
                  <a:lnTo>
                    <a:pt x="0" y="37954"/>
                  </a:lnTo>
                  <a:cubicBezTo>
                    <a:pt x="0" y="27888"/>
                    <a:pt x="3999" y="18234"/>
                    <a:pt x="11117" y="11117"/>
                  </a:cubicBezTo>
                  <a:cubicBezTo>
                    <a:pt x="18234" y="3999"/>
                    <a:pt x="27888" y="0"/>
                    <a:pt x="3795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1471831" cy="123534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5766355" y="4498896"/>
            <a:ext cx="472792" cy="332783"/>
            <a:chOff x="0" y="0"/>
            <a:chExt cx="152907" cy="107626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52907" cy="107626"/>
            </a:xfrm>
            <a:custGeom>
              <a:avLst/>
              <a:gdLst/>
              <a:ahLst/>
              <a:cxnLst/>
              <a:rect r="r" b="b" t="t" l="l"/>
              <a:pathLst>
                <a:path h="107626" w="152907">
                  <a:moveTo>
                    <a:pt x="0" y="0"/>
                  </a:moveTo>
                  <a:lnTo>
                    <a:pt x="152907" y="0"/>
                  </a:lnTo>
                  <a:lnTo>
                    <a:pt x="152907" y="107626"/>
                  </a:lnTo>
                  <a:lnTo>
                    <a:pt x="0" y="1076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152907" cy="155251"/>
            </a:xfrm>
            <a:prstGeom prst="rect">
              <a:avLst/>
            </a:prstGeom>
          </p:spPr>
          <p:txBody>
            <a:bodyPr anchor="ctr" rtlCol="false" tIns="76011" lIns="76011" bIns="76011" rIns="76011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14076861" y="1807432"/>
            <a:ext cx="3851780" cy="39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2"/>
              </a:lnSpc>
              <a:spcBef>
                <a:spcPct val="0"/>
              </a:spcBef>
            </a:pPr>
            <a:r>
              <a:rPr lang="en-US" sz="2230">
                <a:solidFill>
                  <a:srgbClr val="000002"/>
                </a:solidFill>
                <a:latin typeface="Poppins"/>
                <a:ea typeface="Poppins"/>
                <a:cs typeface="Poppins"/>
                <a:sym typeface="Poppins"/>
              </a:rPr>
              <a:t>STRING INMUTABLE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DAG42-ci3GM</dc:identifier>
  <dcterms:modified xsi:type="dcterms:W3CDTF">2011-08-01T06:04:30Z</dcterms:modified>
  <cp:revision>1</cp:revision>
  <dc:title>Black and Red Tech Programming Presentation</dc:title>
</cp:coreProperties>
</file>